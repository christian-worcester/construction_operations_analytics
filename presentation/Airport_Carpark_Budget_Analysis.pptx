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cacba3c4-07e2-c395-ad53-1360d518cd9b}">
          <p14:sldIdLst>
            <p14:sldId id="256"/>
          </p14:sldIdLst>
        </p14:section>
        <p14:section name="Findings" id="{8d64fac4-c719-9f20-7484-e93639bf27b2}">
          <p14:sldIdLst>
            <p14:sldId id="257"/>
            <p14:sldId id="258"/>
            <p14:sldId id="259"/>
            <p14:sldId id="260"/>
          </p14:sldIdLst>
        </p14:section>
        <p14:section name="Next steps" id="{2d952515-7d30-6afc-7f48-fb3962a0fdce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0"/>
                </a:solidFill>
                <a:latin typeface="+mn-lt"/>
              </a:rPr>
              <a:t>Comparable packages (52)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Combined budget</c:v>
                  </c:pt>
                  <c:pt idx="1">
                    <c:v>Combined final cost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1933569.37</c:v>
                </c:pt>
                <c:pt idx="1">
                  <c:v>1882090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3000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0"/>
                </a:solidFill>
                <a:latin typeface="+mn-lt"/>
              </a:rPr>
              <a:t>Overrun over budget ($)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Overrun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Sweep &amp; Prime / Primer Seal</c:v>
                  </c:pt>
                  <c:pt idx="1">
                    <c:v>QMS Sand</c:v>
                  </c:pt>
                  <c:pt idx="2">
                    <c:v>Project Supervision</c:v>
                  </c:pt>
                  <c:pt idx="3">
                    <c:v>Place &amp; Compact Gravel</c:v>
                  </c:pt>
                  <c:pt idx="4">
                    <c:v>Stockpile to Fill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36308.9</c:v>
                </c:pt>
                <c:pt idx="1">
                  <c:v>40199.32</c:v>
                </c:pt>
                <c:pt idx="2">
                  <c:v>44739.9</c:v>
                </c:pt>
                <c:pt idx="3">
                  <c:v>51212.68</c:v>
                </c:pt>
                <c:pt idx="4">
                  <c:v>69889.56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0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Overview: 52 comparable packages finished $51,479 (2.66%) under their combined budget. The rest of the deck explains why that headline needs care.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was imported to BigQuery, cleaned in SQL, and validated. Only packages with both budget and final cost are in the like-for-like comparison.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Combined budget $1,933,569.37 vs final $1,882,090.00. Variance = final minus budget. Half the packages overran.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five: Stockpile to Fill, Place &amp; Compact Gravel, Project Supervision, QMS Sand, Sweep &amp; Prime. Causes not established by the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Small budgets create huge percentages; large packages create large dollar impact. Missing values must be investigated before closeout.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Priority: investigate largest variances, close data gaps, reconcile the Survey discrepancy.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011680"/>
            <a:ext cx="73152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_DARK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CONSTRUCTION OPERATIONS ANALYTICS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82296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Airport Carpark: Budget Performance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011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Budget vs. final cost across work packages</a:t>
            </a:r>
            <a:endParaRPr lang="en-US" sz="1600" dirty="0"/>
          </a:p>
        </p:txBody>
      </p:sp>
      <p:sp>
        <p:nvSpPr>
          <p:cNvPr id="5" name="Stat card 1"/>
          <p:cNvSpPr/>
          <p:nvPr/>
        </p:nvSpPr>
        <p:spPr>
          <a:xfrm>
            <a:off x="548640" y="3154680"/>
            <a:ext cx="256032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33375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52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4023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work packages compared</a:t>
            </a:r>
            <a:endParaRPr lang="en-US" sz="1400" dirty="0"/>
          </a:p>
        </p:txBody>
      </p:sp>
      <p:sp>
        <p:nvSpPr>
          <p:cNvPr id="8" name="Stat card 2"/>
          <p:cNvSpPr/>
          <p:nvPr/>
        </p:nvSpPr>
        <p:spPr>
          <a:xfrm>
            <a:off x="3291840" y="3154680"/>
            <a:ext cx="256032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0440" y="33375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−$51,479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4023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net variance (favorable)</a:t>
            </a:r>
            <a:endParaRPr lang="en-US" sz="1400" dirty="0"/>
          </a:p>
        </p:txBody>
      </p:sp>
      <p:sp>
        <p:nvSpPr>
          <p:cNvPr id="11" name="Stat card 3"/>
          <p:cNvSpPr/>
          <p:nvPr/>
        </p:nvSpPr>
        <p:spPr>
          <a:xfrm>
            <a:off x="6035040" y="3154680"/>
            <a:ext cx="256032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63640" y="33375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2.66%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4023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below combined budget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52 of 63 packages could be compared</a:t>
            </a:r>
            <a:endParaRPr lang="en-US" sz="3200" dirty="0"/>
          </a:p>
        </p:txBody>
      </p:sp>
      <p:sp>
        <p:nvSpPr>
          <p:cNvPr id="3" name="Funnel bar 1"/>
          <p:cNvSpPr/>
          <p:nvPr/>
        </p:nvSpPr>
        <p:spPr>
          <a:xfrm>
            <a:off x="548640" y="1371600"/>
            <a:ext cx="4572000" cy="566928"/>
          </a:xfrm>
          <a:prstGeom prst="roundRect">
            <a:avLst>
              <a:gd name="adj" fmla="val 1290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63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137160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Work packages identified</a:t>
            </a:r>
            <a:endParaRPr lang="en-US" sz="1400" dirty="0"/>
          </a:p>
        </p:txBody>
      </p:sp>
      <p:sp>
        <p:nvSpPr>
          <p:cNvPr id="6" name="Funnel bar 2"/>
          <p:cNvSpPr/>
          <p:nvPr/>
        </p:nvSpPr>
        <p:spPr>
          <a:xfrm>
            <a:off x="548640" y="2148840"/>
            <a:ext cx="4281714" cy="566928"/>
          </a:xfrm>
          <a:prstGeom prst="roundRect">
            <a:avLst>
              <a:gd name="adj" fmla="val 1290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14884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59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14884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Have a budget value</a:t>
            </a:r>
            <a:endParaRPr lang="en-US" sz="1400" dirty="0"/>
          </a:p>
        </p:txBody>
      </p:sp>
      <p:sp>
        <p:nvSpPr>
          <p:cNvPr id="9" name="Funnel bar 3"/>
          <p:cNvSpPr/>
          <p:nvPr/>
        </p:nvSpPr>
        <p:spPr>
          <a:xfrm>
            <a:off x="548640" y="2926080"/>
            <a:ext cx="3918857" cy="566928"/>
          </a:xfrm>
          <a:prstGeom prst="roundRect">
            <a:avLst>
              <a:gd name="adj" fmla="val 1290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92608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54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292608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Have a final cost</a:t>
            </a:r>
            <a:endParaRPr lang="en-US" sz="1400" dirty="0"/>
          </a:p>
        </p:txBody>
      </p:sp>
      <p:sp>
        <p:nvSpPr>
          <p:cNvPr id="12" name="Funnel bar 4"/>
          <p:cNvSpPr/>
          <p:nvPr/>
        </p:nvSpPr>
        <p:spPr>
          <a:xfrm>
            <a:off x="548640" y="3703320"/>
            <a:ext cx="3773714" cy="566928"/>
          </a:xfrm>
          <a:prstGeom prst="roundRect">
            <a:avLst>
              <a:gd name="adj" fmla="val 1290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70332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52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1645920" y="370332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Have both: fully comparable</a:t>
            </a:r>
            <a:endParaRPr lang="en-US" sz="1400" dirty="0"/>
          </a:p>
        </p:txBody>
      </p:sp>
      <p:sp>
        <p:nvSpPr>
          <p:cNvPr id="15" name="Incomplete card"/>
          <p:cNvSpPr/>
          <p:nvPr/>
        </p:nvSpPr>
        <p:spPr>
          <a:xfrm>
            <a:off x="5669280" y="1371600"/>
            <a:ext cx="2926080" cy="2697480"/>
          </a:xfrm>
          <a:prstGeom prst="roundRect">
            <a:avLst>
              <a:gd name="adj" fmla="val 406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0" y="15544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</a:rPr>
              <a:t>11</a:t>
            </a:r>
            <a:endParaRPr lang="en-US" sz="48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0" y="22860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packages have incomplete financials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0" y="29260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7 budget, no final cost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2 final cost, no budget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2 missing both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Missing values were kept as missing, never assumed to be zero.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Net result is favorable, but split 26 / 26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44805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Over card"/>
          <p:cNvSpPr/>
          <p:nvPr/>
        </p:nvSpPr>
        <p:spPr>
          <a:xfrm>
            <a:off x="5303520" y="1280160"/>
            <a:ext cx="32918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532120" y="137160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26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6492240" y="137160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packages over budget</a:t>
            </a:r>
            <a:endParaRPr lang="en-US" sz="1600" dirty="0"/>
          </a:p>
        </p:txBody>
      </p:sp>
      <p:sp>
        <p:nvSpPr>
          <p:cNvPr id="7" name="Under card"/>
          <p:cNvSpPr/>
          <p:nvPr/>
        </p:nvSpPr>
        <p:spPr>
          <a:xfrm>
            <a:off x="5303520" y="2468880"/>
            <a:ext cx="32918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532120" y="256032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</a:rPr>
              <a:t>26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6492240" y="25603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packages under budget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303520" y="36576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$51,479 saving masks large package-level swings and does not prove the project finished under budget.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Five packages drive the largest overruns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43000"/>
          <a:ext cx="53949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op ten card"/>
          <p:cNvSpPr/>
          <p:nvPr/>
        </p:nvSpPr>
        <p:spPr>
          <a:xfrm>
            <a:off x="6126480" y="128016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355080" y="14630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$342,041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355080" y="20574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combined overrun of the ten largest packages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126480" y="29718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Stockpile to Fill alone ran $69,890 over: budget $94,981 vs. final $164,871.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126480" y="3931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These show where costs differed, not why.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Three issues limit confidence in the results</a:t>
            </a:r>
            <a:endParaRPr lang="en-US" sz="3200" dirty="0"/>
          </a:p>
        </p:txBody>
      </p:sp>
      <p:sp>
        <p:nvSpPr>
          <p:cNvPr id="3" name="Issue card 1"/>
          <p:cNvSpPr/>
          <p:nvPr/>
        </p:nvSpPr>
        <p:spPr>
          <a:xfrm>
            <a:off x="548640" y="1280160"/>
            <a:ext cx="2560320" cy="28346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3,771%</a:t>
            </a:r>
            <a:endParaRPr lang="en-US" sz="3600" dirty="0"/>
          </a:p>
        </p:txBody>
      </p:sp>
      <p:sp>
        <p:nvSpPr>
          <p:cNvPr id="5" name="Marker 1"/>
          <p:cNvSpPr/>
          <p:nvPr/>
        </p:nvSpPr>
        <p:spPr>
          <a:xfrm>
            <a:off x="777240" y="2331720"/>
            <a:ext cx="164592" cy="1645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2286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Percentage outlier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9748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Cement Powder (stabilising): budget $332, final $12,852. Huge percentage, but only $12,520 in dollars.</a:t>
            </a:r>
            <a:endParaRPr lang="en-US" sz="1300" dirty="0"/>
          </a:p>
        </p:txBody>
      </p:sp>
      <p:sp>
        <p:nvSpPr>
          <p:cNvPr id="8" name="Issue card 2"/>
          <p:cNvSpPr/>
          <p:nvPr/>
        </p:nvSpPr>
        <p:spPr>
          <a:xfrm>
            <a:off x="3291840" y="1280160"/>
            <a:ext cx="2560320" cy="28346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0440" y="1463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11</a:t>
            </a:r>
            <a:endParaRPr lang="en-US" sz="3600" dirty="0"/>
          </a:p>
        </p:txBody>
      </p:sp>
      <p:sp>
        <p:nvSpPr>
          <p:cNvPr id="10" name="Marker 2"/>
          <p:cNvSpPr/>
          <p:nvPr/>
        </p:nvSpPr>
        <p:spPr>
          <a:xfrm>
            <a:off x="3520440" y="2331720"/>
            <a:ext cx="164592" cy="16459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94760" y="2286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Incomplete records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69748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Packages lack budget, final cost, or both. Results cover only the 52 complete ones.</a:t>
            </a:r>
            <a:endParaRPr lang="en-US" sz="1300" dirty="0"/>
          </a:p>
        </p:txBody>
      </p:sp>
      <p:sp>
        <p:nvSpPr>
          <p:cNvPr id="13" name="Issue card 3"/>
          <p:cNvSpPr/>
          <p:nvPr/>
        </p:nvSpPr>
        <p:spPr>
          <a:xfrm>
            <a:off x="6035040" y="1280160"/>
            <a:ext cx="2560320" cy="28346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63640" y="1463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$1,400</a:t>
            </a:r>
            <a:endParaRPr lang="en-US" sz="3600" dirty="0"/>
          </a:p>
        </p:txBody>
      </p:sp>
      <p:sp>
        <p:nvSpPr>
          <p:cNvPr id="15" name="Marker 3"/>
          <p:cNvSpPr/>
          <p:nvPr/>
        </p:nvSpPr>
        <p:spPr>
          <a:xfrm>
            <a:off x="6263640" y="2331720"/>
            <a:ext cx="164592" cy="164592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37960" y="2286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Unreconciled gap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69748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Survey – Construction: $27,030 on the WBS sheet vs. $28,430.20 in actual transactions.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Review dollar and percentage variance together; totals are not a fully reconciled project cost.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Recommended next steps</a:t>
            </a:r>
            <a:endParaRPr lang="en-US" sz="3200" dirty="0"/>
          </a:p>
        </p:txBody>
      </p:sp>
      <p:sp>
        <p:nvSpPr>
          <p:cNvPr id="3" name="Step number 1"/>
          <p:cNvSpPr/>
          <p:nvPr/>
        </p:nvSpPr>
        <p:spPr>
          <a:xfrm>
            <a:off x="548640" y="1271016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710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Investigate the five largest overruns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5453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Check records, quantities, rates and approved variations</a:t>
            </a:r>
            <a:endParaRPr lang="en-US" sz="1300" dirty="0"/>
          </a:p>
        </p:txBody>
      </p:sp>
      <p:sp>
        <p:nvSpPr>
          <p:cNvPr id="7" name="Step number 2"/>
          <p:cNvSpPr/>
          <p:nvPr/>
        </p:nvSpPr>
        <p:spPr>
          <a:xfrm>
            <a:off x="548640" y="1975104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9751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19385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Review percentage outliers separately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2494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Confirm small budgets and unit rates are recorded correctly</a:t>
            </a:r>
            <a:endParaRPr lang="en-US" sz="1300" dirty="0"/>
          </a:p>
        </p:txBody>
      </p:sp>
      <p:sp>
        <p:nvSpPr>
          <p:cNvPr id="11" name="Step number 3"/>
          <p:cNvSpPr/>
          <p:nvPr/>
        </p:nvSpPr>
        <p:spPr>
          <a:xfrm>
            <a:off x="548640" y="2679192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679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64261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Resolve the 11 incomplete records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953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Pending, omitted or not performed? Never assume zero</a:t>
            </a:r>
            <a:endParaRPr lang="en-US" sz="1300" dirty="0"/>
          </a:p>
        </p:txBody>
      </p:sp>
      <p:sp>
        <p:nvSpPr>
          <p:cNvPr id="15" name="Step number 4"/>
          <p:cNvSpPr/>
          <p:nvPr/>
        </p:nvSpPr>
        <p:spPr>
          <a:xfrm>
            <a:off x="548640" y="33832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34670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Reconcile the $1,400.20 Survey difference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3657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Match WBS totals to actual cost transactions</a:t>
            </a:r>
            <a:endParaRPr lang="en-US" sz="1300" dirty="0"/>
          </a:p>
        </p:txBody>
      </p:sp>
      <p:sp>
        <p:nvSpPr>
          <p:cNvPr id="19" name="Step number 5"/>
          <p:cNvSpPr/>
          <p:nvPr/>
        </p:nvSpPr>
        <p:spPr>
          <a:xfrm>
            <a:off x="548640" y="408736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087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5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40507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Make validation repeatable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43616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Standard checks and exception reporting for future reviews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rpark Budget">
  <a:themeElements>
    <a:clrScheme name="Carpark Budget">
      <a:dk1>
        <a:srgbClr val="1B2430"/>
      </a:dk1>
      <a:lt1>
        <a:srgbClr val="FFFFFF"/>
      </a:lt1>
      <a:dk2>
        <a:srgbClr val="475569"/>
      </a:dk2>
      <a:lt2>
        <a:srgbClr val="F1F4F7"/>
      </a:lt2>
      <a:accent1>
        <a:srgbClr val="F59E0B"/>
      </a:accent1>
      <a:accent2>
        <a:srgbClr val="E4572E"/>
      </a:accent2>
      <a:accent3>
        <a:srgbClr val="2A9D8F"/>
      </a:accent3>
      <a:accent4>
        <a:srgbClr val="64748B"/>
      </a:accent4>
      <a:accent5>
        <a:srgbClr val="CBD5E1"/>
      </a:accent5>
      <a:accent6>
        <a:srgbClr val="3B82F6"/>
      </a:accent6>
      <a:hlink>
        <a:srgbClr val="3B82F6"/>
      </a:hlink>
      <a:folHlink>
        <a:srgbClr val="64748B"/>
      </a:folHlink>
    </a:clrScheme>
    <a:fontScheme name="Carpark Budge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Airport Carpark Budget Performance</dc:title>
  <dc:subject>PptxGenJS Presentation</dc:subject>
  <dc:creator>Peak Engine</dc:creator>
  <cp:lastModifiedBy>Peak Engine</cp:lastModifiedBy>
  <cp:revision>1</cp:revision>
  <dcterms:created xsi:type="dcterms:W3CDTF">2026-10-27T02:02:45Z</dcterms:created>
  <dcterms:modified xsi:type="dcterms:W3CDTF">2026-10-27T02:02:45Z</dcterms:modified>
</cp:coreProperties>
</file>